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721"/>
  </p:normalViewPr>
  <p:slideViewPr>
    <p:cSldViewPr snapToGrid="0" snapToObjects="1">
      <p:cViewPr varScale="1">
        <p:scale>
          <a:sx n="145" d="100"/>
          <a:sy n="145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625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43891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438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FFFFFF"/>
                </a:solidFill>
              </a:rPr>
              <a:t>SESSION  04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841248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Charts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Insights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75488" y="23317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 |  Calculated Fields  |  Advanced Dashboards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2944368"/>
            <a:ext cx="4297680" cy="320040"/>
          </a:xfrm>
          <a:prstGeom prst="roundRect">
            <a:avLst>
              <a:gd name="adj" fmla="val 17143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834640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 Filters — dimension, measure &amp; quick filters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3310128"/>
            <a:ext cx="4297680" cy="320040"/>
          </a:xfrm>
          <a:prstGeom prst="roundRect">
            <a:avLst>
              <a:gd name="adj" fmla="val 17143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218688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Calculated Fields — IF/THEN logic &amp; bucketing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3675888"/>
            <a:ext cx="4297680" cy="320040"/>
          </a:xfrm>
          <a:prstGeom prst="roundRect">
            <a:avLst>
              <a:gd name="adj" fmla="val 17143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602736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 Highlight Actions &amp; dashboard polish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4041648"/>
            <a:ext cx="4297680" cy="320040"/>
          </a:xfrm>
          <a:prstGeom prst="roundRect">
            <a:avLst>
              <a:gd name="adj" fmla="val 17143"/>
            </a:avLst>
          </a:prstGeom>
          <a:solidFill>
            <a:srgbClr val="1C3A5E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986784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Build it all together — live in class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4754880"/>
            <a:ext cx="4773168" cy="388620"/>
          </a:xfrm>
          <a:prstGeom prst="rect">
            <a:avLst/>
          </a:prstGeom>
          <a:solidFill>
            <a:srgbClr val="081529"/>
          </a:solidFill>
          <a:ln w="12700">
            <a:solidFill>
              <a:srgbClr val="0815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Data Warehousing &amp; Business Intelligence 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66360" y="256032"/>
            <a:ext cx="3749040" cy="310896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66360" y="2560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94A3B8"/>
                </a:solidFill>
              </a:rPr>
              <a:t>SESSION AGENDA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66360" y="640080"/>
            <a:ext cx="3749040" cy="1316736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66360" y="640080"/>
            <a:ext cx="54864" cy="1316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85232" y="74980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85232" y="749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87568" y="73152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87568" y="1115568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filters, measure filters, and quick filters visible on dashboards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66360" y="2057400"/>
            <a:ext cx="3749040" cy="131673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66360" y="2057400"/>
            <a:ext cx="54864" cy="131673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85232" y="216712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85232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87568" y="214884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Calculated Fields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687568" y="2532888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IF/THEN logic and ELSEIF bucketing to create new columns from your 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66360" y="3474720"/>
            <a:ext cx="3749040" cy="131673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66360" y="3474720"/>
            <a:ext cx="54864" cy="131673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285232" y="358444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85232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87568" y="356616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Dashboard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687568" y="3950208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actions, multiple filters, and professional layout polish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66360" y="4901184"/>
            <a:ext cx="3749040" cy="23774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66360" y="4901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30 min  |  insurance.csv  |  Tableau Public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FILTERS — CONTROLLING WHAT YOUR CHART SHOWS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let you focus on a specific slice of data. They can live on a worksheet or be visible on a dashboard for users to control.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3 types you need to know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3840480" cy="9326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  Dimension Filter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8836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Show only smokers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only one region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883664"/>
            <a:ext cx="19202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67712" y="18836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Drag field to Filters shelf → check/uncheck values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3840480" cy="93268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</a:rPr>
              <a:t>  Measure Filter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Show only charges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$20,000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2907792"/>
            <a:ext cx="19202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67712" y="290779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Drag Charges to Filters → Range of Values → set min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3840480" cy="932688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</a:rPr>
              <a:t>  Quick Filter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Visible dropdown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94560" y="3931920"/>
            <a:ext cx="19202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67712" y="39319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Right-click field on Filters shelf → Show Filter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How it looks in Tableau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536192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09344"/>
            <a:ext cx="3977640" cy="25146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200" y="4572000"/>
            <a:ext cx="8275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Filters on a dashboard affect only that worksheet — unless you use Dashboard → Actions → Filter to link them all.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04  ·  insurance.csv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CALCULATED FIELDS — MAKING TABLEAU THINK FOR YOU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calculated field creates a brand new column from logic you write. It lives in your Data Pane like any other field — drag it, color it, filter it.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How to create 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menu → Create Calculated Field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21408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121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048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name — e.g.  Risk Category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596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IF/THEN formula (see right)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0723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→ it appears in your Data Pane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547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it to Columns, Color, or Rows — just like any field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59936"/>
            <a:ext cx="3840480" cy="329184"/>
          </a:xfrm>
          <a:prstGeom prst="rect">
            <a:avLst/>
          </a:prstGeom>
          <a:solidFill>
            <a:srgbClr val="EDE9FE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05993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formula auto-validates. A green tick = correct. A red X = check your spelling or brackets.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Example: Risk Category field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536192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09344"/>
            <a:ext cx="3977640" cy="25146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663440" y="4297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663440" y="4297680"/>
            <a:ext cx="64008" cy="8229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28032" y="434340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</a:rPr>
              <a:t>Why this matters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28032" y="4544568"/>
            <a:ext cx="3904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created a field that doesn't exist in the raw data. Tableau calculated it from your logic. This is the bridge between raw data.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04  ·  insurance.csv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CALCULATED FIELDS — BUCKETING WITH ELSEIF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 lets you create multiple buckets from one numeric field — perfect for turning raw charges into business-friendly categories.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Formula: Charge Category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38404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D7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91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17510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[Charges] &lt; 10000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19110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0711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"Low"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231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3911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[Charges] &lt; 30000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5511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27111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"Medium"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8712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0312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"High"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1912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47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8"/>
                </a:solidFill>
              </a:rPr>
              <a:t>The bucketing rules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11887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1696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$10,000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64208" y="3840480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64208" y="3840480"/>
            <a:ext cx="11887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64208" y="39319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Medium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64208" y="41696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– $30,000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62656" y="3840480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62656" y="3840480"/>
            <a:ext cx="118872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62656" y="39319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1D48"/>
                </a:solidFill>
              </a:rPr>
              <a:t>High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962656" y="41696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$30,000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What you can build with it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1536192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09344"/>
            <a:ext cx="3977640" cy="2500884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4663440" y="4297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663440" y="429768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828032" y="434340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</a:rPr>
              <a:t>Try it yourself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828032" y="4590288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Charge Category field, then drag it to Columns and count patients in each bucket. Which category has the most patients?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04  ·  insurance.csv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DASHBOARD — ACTIONS &amp; POLISH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dashboard in Session 3. Now let's make it smarter — with highlight actions, better filters, and professional layout polish.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Level up your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3840480" cy="89611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</a:rPr>
              <a:t>  Highlight Action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1883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 bar — related data glows in other charts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Dashboard menu → Actions → Add Action → Highlight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3840480" cy="89611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</a:rPr>
              <a:t>  Multiple Quick Filters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2871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Region, Smoker, and Risk Category dropdowns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0723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filter: right-click on Filters shelf → Show Filter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47872"/>
            <a:ext cx="3840480" cy="896112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602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</a:rPr>
              <a:t>🎨  Layout Polish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dividers, padding, font sizes — it should look like a product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599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Dashboard → Format → Shading, Borders, Fonts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608576"/>
            <a:ext cx="384048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60857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Filter Action vs Highlight Action — Filter removes non-matching data. Highlight dims it but keeps it visible. Both are powerful, use both!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234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How to do each one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536192"/>
            <a:ext cx="4160520" cy="1042416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536192"/>
            <a:ext cx="54864" cy="104241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159105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Highlight Action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73168" y="1874520"/>
            <a:ext cx="36576" cy="10972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184708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menu → Actions → Add Action → Highlight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2039112"/>
            <a:ext cx="36576" cy="10972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201168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any sheet   Target: all sheets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2203704"/>
            <a:ext cx="36576" cy="10972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217627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on: Hover → click OK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368296"/>
            <a:ext cx="36576" cy="10972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2340864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hover over a bar — others glow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651760"/>
            <a:ext cx="4160520" cy="104241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2651760"/>
            <a:ext cx="54864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73168" y="270662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Multiple Quick Filters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73168" y="2990088"/>
            <a:ext cx="36576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64608" y="2962656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Smoker on Filters shelf → Show Filter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73168" y="3154680"/>
            <a:ext cx="36576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64608" y="312724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Region field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3319272"/>
            <a:ext cx="36576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64608" y="329184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dropdowns appear on canvas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73168" y="3483864"/>
            <a:ext cx="36576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64608" y="345643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them to dashboard — done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767328"/>
            <a:ext cx="4160520" cy="1042416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3767328"/>
            <a:ext cx="54864" cy="104241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73168" y="382219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</a:rPr>
              <a:t>Layout Polish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73168" y="4105656"/>
            <a:ext cx="36576" cy="10972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64608" y="4078224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Format → set background color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73168" y="4270248"/>
            <a:ext cx="36576" cy="10972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64608" y="4242816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Text object for the dashboard title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73168" y="4434840"/>
            <a:ext cx="36576" cy="10972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64608" y="440740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charts by dragging their borders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73168" y="4599432"/>
            <a:ext cx="36576" cy="10972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64608" y="457200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→ Font to standardize text size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04  ·  insurance.csv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— BUILD IT ALL IN 30 MINUTES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Tableau Public → insurance.csv is already connected. Follow the steps below in order.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Part 1 — Filters  (8 min)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Sheet 1 (bar chart) → drag Smoker to Filters shelf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both yes/no for now → Right-click → Show Filter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3230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3591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Region filter → Show Filter on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</a:rPr>
              <a:t>Part 2 — Calculated Fields  (12 min)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18688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218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1455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→ Create Calculated Field → name: Risk Category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84448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584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5112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IF [Smoker]="yes" AND [Bmi]&gt;30 THEN formula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50208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950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8770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new sheet → drag Risk Category to Columns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15968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315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242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Charges to Rows → change to Average → add to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Part 3 — Advanced Dashboard  (10 min)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62763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1627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Session 3 dashboard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202996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2029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menu → Actions → Add → Highlight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243230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23591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Source = any sheet · Target = all sheets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283464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2834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37760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Risk Category chart to the dashboard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323697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63440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37760" y="31638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→ add a title at the top: Insurance Risk Dashboard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363931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63440" y="3639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37760" y="3566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hover over a bar — watch other charts highlight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By the end of this session your dashboard has: Filters · Calculated Field · Highlight Action · Multiple chart types. That is a real BI dashboard.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04  ·  insurance.csv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COMING IN SESSION 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Session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6400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now built real BI dashboards. Session 5 introduces Parameters — the most powerful feature in Tableau.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</a:rPr>
              <a:t>Quick recap — what we covered today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2651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627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  Filters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Dimension, Measure and Quick Filters on 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1536192"/>
            <a:ext cx="2651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1536192"/>
            <a:ext cx="265176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9272" y="1627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</a:rPr>
              <a:t>  Calculated Fields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9272" y="1920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IF/THEN logic + ELSEIF bucketing to create new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98464" y="1536192"/>
            <a:ext cx="2651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98464" y="1536192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35624" y="1627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  Advanced Dashboard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35624" y="1920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actions, multiple filters, layout polish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8"/>
                </a:solidFill>
              </a:rPr>
              <a:t>Session 5 — Parameters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2999232"/>
            <a:ext cx="841248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D70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5156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What is a Parameter?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349300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user-controlled variable — like a slider or dropdown that changes the chart logic in real 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0712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67912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Parameter + Calculated Field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10712" y="349300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so the user sets their own BMI threshold and the Risk Category updates instantly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27064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684264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Dynamic Chart Titles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27064" y="3493008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title changes automatically based on what the user selects — makes it feel like a real app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F46"/>
                </a:solidFill>
              </a:rPr>
              <a:t>Assignment 3 will be posted after Session 5 — same insurance.csv, using your new calculated fields and filters.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 Warehousing &amp; BI  ·  Tableau Session 04  ·  insurance.csv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1226</Words>
  <Application>Microsoft Macintosh PowerPoint</Application>
  <PresentationFormat>On-screen Show (16:9)</PresentationFormat>
  <Paragraphs>179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Mohini Yadav</cp:lastModifiedBy>
  <cp:revision>3</cp:revision>
  <dcterms:created xsi:type="dcterms:W3CDTF">2026-04-24T00:23:45Z</dcterms:created>
  <dcterms:modified xsi:type="dcterms:W3CDTF">2026-04-24T01:38:18Z</dcterms:modified>
</cp:coreProperties>
</file>