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0" r:id="rId3"/>
    <p:sldId id="257" r:id="rId4"/>
    <p:sldId id="258" r:id="rId5"/>
    <p:sldId id="281" r:id="rId6"/>
    <p:sldId id="282" r:id="rId7"/>
    <p:sldId id="259" r:id="rId8"/>
    <p:sldId id="277" r:id="rId9"/>
    <p:sldId id="279" r:id="rId10"/>
    <p:sldId id="260" r:id="rId11"/>
    <p:sldId id="261" r:id="rId12"/>
    <p:sldId id="262" r:id="rId13"/>
    <p:sldId id="278" r:id="rId14"/>
    <p:sldId id="263" r:id="rId15"/>
    <p:sldId id="276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4186"/>
            <a:ext cx="7772400" cy="2944813"/>
          </a:xfrm>
        </p:spPr>
        <p:txBody>
          <a:bodyPr>
            <a:normAutofit fontScale="90000"/>
          </a:bodyPr>
          <a:lstStyle/>
          <a:p>
            <a:r>
              <a:rPr dirty="0"/>
              <a:t>Integrating </a:t>
            </a:r>
            <a:br>
              <a:rPr lang="en-US" dirty="0"/>
            </a:br>
            <a:r>
              <a:rPr sz="5300" dirty="0">
                <a:highlight>
                  <a:srgbClr val="00FF00"/>
                </a:highlight>
              </a:rPr>
              <a:t>MySQL</a:t>
            </a:r>
            <a:r>
              <a:rPr dirty="0"/>
              <a:t> </a:t>
            </a:r>
            <a:br>
              <a:rPr lang="en-US" dirty="0"/>
            </a:br>
            <a:r>
              <a:rPr dirty="0"/>
              <a:t>with </a:t>
            </a:r>
            <a:br>
              <a:rPr lang="en-US" dirty="0"/>
            </a:br>
            <a:r>
              <a:rPr lang="en-US" dirty="0">
                <a:highlight>
                  <a:srgbClr val="00FFFF"/>
                </a:highlight>
              </a:rPr>
              <a:t>Large Language Models</a:t>
            </a:r>
            <a:br>
              <a:rPr lang="en-US" dirty="0"/>
            </a:br>
            <a:r>
              <a:rPr dirty="0"/>
              <a:t> </a:t>
            </a:r>
            <a:r>
              <a:rPr lang="en-US" sz="2700" dirty="0"/>
              <a:t>(Examples </a:t>
            </a:r>
            <a:r>
              <a:rPr sz="2700" dirty="0"/>
              <a:t>using OpenAI</a:t>
            </a:r>
            <a:r>
              <a:rPr lang="en-US" sz="2700" dirty="0"/>
              <a:t>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78865"/>
            <a:ext cx="6400800" cy="1959934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sz="1600" dirty="0"/>
              <a:t> by: </a:t>
            </a:r>
          </a:p>
          <a:p>
            <a:r>
              <a:rPr lang="en-US" sz="2000" b="1" dirty="0"/>
              <a:t>Mahmoud Parsian</a:t>
            </a:r>
          </a:p>
          <a:p>
            <a:r>
              <a:rPr lang="en-US" sz="1400" dirty="0"/>
              <a:t>Ph.D. in Computer Science</a:t>
            </a:r>
          </a:p>
          <a:p>
            <a:endParaRPr lang="en-US" sz="1400" dirty="0"/>
          </a:p>
          <a:p>
            <a:r>
              <a:rPr lang="en-US" sz="1400" dirty="0"/>
              <a:t>Last Updated: September 10, 2025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499F4-1648-82BA-85C6-93A4EE875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C0C85-9898-A507-54AC-40D4C4978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What is MySQL?</a:t>
            </a:r>
          </a:p>
          <a:p>
            <a:pPr marL="514350" indent="-514350">
              <a:buAutoNum type="arabicPeriod"/>
            </a:pPr>
            <a:r>
              <a:rPr lang="en-US" dirty="0"/>
              <a:t>What is an LLM?</a:t>
            </a:r>
          </a:p>
          <a:p>
            <a:pPr marL="514350" indent="-514350">
              <a:buAutoNum type="arabicPeriod"/>
            </a:pPr>
            <a:r>
              <a:rPr lang="en-US" dirty="0"/>
              <a:t>Integration of MySQL and LLM</a:t>
            </a:r>
          </a:p>
          <a:p>
            <a:pPr marL="514350" indent="-514350">
              <a:buFont typeface="Arial"/>
              <a:buAutoNum type="arabicPeriod"/>
            </a:pPr>
            <a:r>
              <a:rPr lang="en-US" dirty="0"/>
              <a:t>Architecture of Integration</a:t>
            </a:r>
          </a:p>
          <a:p>
            <a:pPr marL="514350" indent="-514350">
              <a:buFont typeface="Arial"/>
              <a:buAutoNum type="arabicPeriod"/>
            </a:pPr>
            <a:r>
              <a:rPr lang="en-US" dirty="0"/>
              <a:t>Examples of Integration</a:t>
            </a:r>
          </a:p>
          <a:p>
            <a:pPr marL="514350" indent="-514350">
              <a:buFont typeface="Arial"/>
              <a:buAutoNum type="arabicPeriod"/>
            </a:pPr>
            <a:r>
              <a:rPr lang="en-US" dirty="0"/>
              <a:t>DEMO</a:t>
            </a:r>
          </a:p>
          <a:p>
            <a:pPr marL="514350" indent="-514350">
              <a:buFont typeface="Arial"/>
              <a:buAutoNum type="arabicPeriod"/>
            </a:pPr>
            <a:r>
              <a:rPr lang="en-US" dirty="0"/>
              <a:t>Tips, Best Practices, Cost, Monitoring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159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1. What is MySQL?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851" y="1417638"/>
            <a:ext cx="8229600" cy="4515329"/>
          </a:xfrm>
        </p:spPr>
        <p:txBody>
          <a:bodyPr/>
          <a:lstStyle/>
          <a:p>
            <a:r>
              <a:rPr lang="en-US" dirty="0"/>
              <a:t>MySQL is a </a:t>
            </a:r>
            <a:r>
              <a:rPr dirty="0"/>
              <a:t>Relational database management system</a:t>
            </a:r>
            <a:endParaRPr lang="en-US" dirty="0"/>
          </a:p>
          <a:p>
            <a:r>
              <a:rPr lang="en-US" dirty="0"/>
              <a:t>MySQL is free and open-source. </a:t>
            </a:r>
            <a:endParaRPr dirty="0"/>
          </a:p>
          <a:p>
            <a:r>
              <a:rPr dirty="0"/>
              <a:t>Widely used for structured data storage</a:t>
            </a:r>
          </a:p>
          <a:p>
            <a:r>
              <a:rPr dirty="0"/>
              <a:t>SQL = Structured Query Language</a:t>
            </a:r>
          </a:p>
          <a:p>
            <a:r>
              <a:rPr dirty="0"/>
              <a:t>Used in OLTP and OLAP systems</a:t>
            </a:r>
            <a:endParaRPr lang="en-US" dirty="0"/>
          </a:p>
          <a:p>
            <a:endParaRPr dirty="0"/>
          </a:p>
        </p:txBody>
      </p:sp>
      <p:pic>
        <p:nvPicPr>
          <p:cNvPr id="1026" name="Picture 2" descr="MySQL | Austin TX">
            <a:extLst>
              <a:ext uri="{FF2B5EF4-FFF2-40B4-BE49-F238E27FC236}">
                <a16:creationId xmlns:a16="http://schemas.microsoft.com/office/drawing/2014/main" id="{E3A43B49-F9E2-CBCE-6520-B0DB0AE54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024" y="4249513"/>
            <a:ext cx="2232838" cy="207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What is an LLM?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r>
              <a:rPr dirty="0"/>
              <a:t>LLM = Large Language Model</a:t>
            </a:r>
          </a:p>
          <a:p>
            <a:r>
              <a:rPr dirty="0"/>
              <a:t>Understands and generates human language</a:t>
            </a:r>
          </a:p>
          <a:p>
            <a:r>
              <a:rPr dirty="0"/>
              <a:t>Trained on massive datasets</a:t>
            </a:r>
          </a:p>
          <a:p>
            <a:r>
              <a:rPr lang="en-US" dirty="0"/>
              <a:t>LLM</a:t>
            </a:r>
          </a:p>
          <a:p>
            <a:pPr lvl="1"/>
            <a:r>
              <a:rPr dirty="0"/>
              <a:t>Can answer questions</a:t>
            </a:r>
            <a:endParaRPr lang="en-US" dirty="0"/>
          </a:p>
          <a:p>
            <a:pPr lvl="1"/>
            <a:r>
              <a:rPr dirty="0"/>
              <a:t>generate SQL</a:t>
            </a:r>
            <a:r>
              <a:rPr lang="en-US" dirty="0"/>
              <a:t> (English -&gt; SQL)</a:t>
            </a:r>
          </a:p>
          <a:p>
            <a:pPr lvl="1"/>
            <a:r>
              <a:rPr lang="en-US" dirty="0"/>
              <a:t>Explain SQL (SQL -&gt; English)</a:t>
            </a:r>
            <a:r>
              <a:rPr dirty="0"/>
              <a:t> </a:t>
            </a:r>
            <a:endParaRPr lang="en-US" dirty="0"/>
          </a:p>
          <a:p>
            <a:pPr lvl="1"/>
            <a:r>
              <a:rPr lang="en-US" dirty="0"/>
              <a:t>S</a:t>
            </a:r>
            <a:r>
              <a:rPr dirty="0"/>
              <a:t>ummarize text, and more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54E15-0755-FD80-EA6A-25323087A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1874B-4700-EB1F-D59A-741AF983F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What is an LLM?</a:t>
            </a:r>
          </a:p>
        </p:txBody>
      </p:sp>
      <p:pic>
        <p:nvPicPr>
          <p:cNvPr id="2052" name="Picture 4" descr="Understanding Artificial Intelligence Hierarchy: How AI, ML, Gen AI, and LLM  Are Related 2025 - DevBlogIt">
            <a:extLst>
              <a:ext uri="{FF2B5EF4-FFF2-40B4-BE49-F238E27FC236}">
                <a16:creationId xmlns:a16="http://schemas.microsoft.com/office/drawing/2014/main" id="{C4CB194A-8548-57B9-393D-7C89EE91D3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726" y="1233378"/>
            <a:ext cx="6921795" cy="5156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3849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3665-B202-0A17-3F24-BA496EAE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CC2C-5B35-A5BC-FA2F-C6A278E62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2. </a:t>
            </a:r>
            <a:r>
              <a:rPr lang="en-US" dirty="0"/>
              <a:t>Example of</a:t>
            </a:r>
            <a:r>
              <a:rPr dirty="0"/>
              <a:t> an LLM?</a:t>
            </a:r>
            <a:r>
              <a:rPr lang="en-US" dirty="0"/>
              <a:t> ChatGPT</a:t>
            </a:r>
            <a:endParaRPr dirty="0"/>
          </a:p>
        </p:txBody>
      </p:sp>
      <p:pic>
        <p:nvPicPr>
          <p:cNvPr id="3074" name="Picture 2" descr="Stop Confusing “AI” with “Generative AI” : r/ChatGPT">
            <a:extLst>
              <a:ext uri="{FF2B5EF4-FFF2-40B4-BE49-F238E27FC236}">
                <a16:creationId xmlns:a16="http://schemas.microsoft.com/office/drawing/2014/main" id="{9C19D7ED-3FF0-99B0-2F0A-204827207C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149" y="1417638"/>
            <a:ext cx="5433237" cy="4458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95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Why Integrate LLMs with 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65005"/>
            <a:ext cx="8229600" cy="4361158"/>
          </a:xfrm>
        </p:spPr>
        <p:txBody>
          <a:bodyPr>
            <a:normAutofit/>
          </a:bodyPr>
          <a:lstStyle/>
          <a:p>
            <a:r>
              <a:rPr dirty="0"/>
              <a:t>Enable natural language queries over databases</a:t>
            </a:r>
            <a:endParaRPr lang="en-US" dirty="0"/>
          </a:p>
          <a:p>
            <a:pPr lvl="1"/>
            <a:r>
              <a:rPr lang="en-US" dirty="0"/>
              <a:t>English </a:t>
            </a:r>
            <a:r>
              <a:rPr lang="en-US" dirty="0">
                <a:sym typeface="Wingdings" pitchFamily="2" charset="2"/>
              </a:rPr>
              <a:t> SQL</a:t>
            </a:r>
            <a:endParaRPr dirty="0"/>
          </a:p>
          <a:p>
            <a:r>
              <a:rPr dirty="0"/>
              <a:t>Summarize or classify text stored in tables</a:t>
            </a:r>
          </a:p>
          <a:p>
            <a:r>
              <a:rPr dirty="0"/>
              <a:t>Reduce manual SQL writing</a:t>
            </a:r>
          </a:p>
          <a:p>
            <a:r>
              <a:rPr dirty="0"/>
              <a:t>Provide AI insights on structured and unstructured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C63BB-D64A-5E45-8121-0EB345EEF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Architecture of</a:t>
            </a:r>
            <a:br>
              <a:rPr lang="en-US" dirty="0"/>
            </a:br>
            <a:r>
              <a:rPr lang="en-US" dirty="0"/>
              <a:t>SQL &amp; LLM Integration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3CE6169-ED82-91B4-3AA7-247062F838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7638"/>
            <a:ext cx="8229600" cy="4418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9906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B7B14-3D44-C463-6FD6-B4173841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2651"/>
            <a:ext cx="8229600" cy="1554159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 </a:t>
            </a:r>
            <a:br>
              <a:rPr lang="en-US" dirty="0"/>
            </a:br>
            <a:r>
              <a:rPr lang="en-US" dirty="0"/>
              <a:t>Natural Language </a:t>
            </a:r>
            <a:r>
              <a:rPr lang="en-US" dirty="0">
                <a:sym typeface="Wingdings" pitchFamily="2" charset="2"/>
              </a:rPr>
              <a:t> SQL</a:t>
            </a:r>
            <a:br>
              <a:rPr lang="en-US" dirty="0">
                <a:sym typeface="Wingdings" pitchFamily="2" charset="2"/>
              </a:rPr>
            </a:br>
            <a:endParaRPr lang="en-US" dirty="0"/>
          </a:p>
        </p:txBody>
      </p:sp>
      <p:pic>
        <p:nvPicPr>
          <p:cNvPr id="1026" name="Picture 2" descr="Unlock the Intelligence Layer: LLMs in Data Warehousing">
            <a:extLst>
              <a:ext uri="{FF2B5EF4-FFF2-40B4-BE49-F238E27FC236}">
                <a16:creationId xmlns:a16="http://schemas.microsoft.com/office/drawing/2014/main" id="{C3CDBDE8-97A5-C2B7-468E-077E00C0FF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841" y="1552352"/>
            <a:ext cx="5858539" cy="480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191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03018"/>
          </a:xfrm>
        </p:spPr>
        <p:txBody>
          <a:bodyPr/>
          <a:lstStyle/>
          <a:p>
            <a:r>
              <a:rPr dirty="0"/>
              <a:t>4. Sample Schema (Employees DB)</a:t>
            </a:r>
            <a:br>
              <a:rPr lang="en-US" dirty="0"/>
            </a:br>
            <a:r>
              <a:rPr lang="en-US" dirty="0"/>
              <a:t>Metadata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15879"/>
            <a:ext cx="8229600" cy="4010284"/>
          </a:xfrm>
        </p:spPr>
        <p:txBody>
          <a:bodyPr>
            <a:normAutofit/>
          </a:bodyPr>
          <a:lstStyle/>
          <a:p>
            <a:r>
              <a:rPr dirty="0">
                <a:highlight>
                  <a:srgbClr val="FFFF00"/>
                </a:highlight>
              </a:rPr>
              <a:t>Table</a:t>
            </a:r>
            <a:r>
              <a:rPr dirty="0"/>
              <a:t>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sz="240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employees(</a:t>
            </a:r>
            <a:r>
              <a:rPr sz="2400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emp_id</a:t>
            </a:r>
            <a:r>
              <a:rPr sz="240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, name, </a:t>
            </a:r>
            <a:r>
              <a:rPr sz="2400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dept_id</a:t>
            </a:r>
            <a:r>
              <a:rPr sz="240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, salary)</a:t>
            </a:r>
          </a:p>
          <a:p>
            <a:r>
              <a:rPr dirty="0">
                <a:highlight>
                  <a:srgbClr val="FFFF00"/>
                </a:highlight>
              </a:rPr>
              <a:t>Table</a:t>
            </a:r>
            <a:r>
              <a:rPr dirty="0"/>
              <a:t>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sz="240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departments(</a:t>
            </a:r>
            <a:r>
              <a:rPr sz="2400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dept_id</a:t>
            </a:r>
            <a:r>
              <a:rPr sz="240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, name)</a:t>
            </a:r>
          </a:p>
          <a:p>
            <a:r>
              <a:rPr lang="en-US" dirty="0">
                <a:highlight>
                  <a:srgbClr val="FFFF00"/>
                </a:highlight>
              </a:rPr>
              <a:t>Relationships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sz="2400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employees.dept_id</a:t>
            </a:r>
            <a:r>
              <a:rPr lang="en-US" sz="240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→ </a:t>
            </a:r>
            <a:r>
              <a:rPr lang="en-US" sz="2400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departments.dept_id</a:t>
            </a:r>
            <a:endParaRPr dirty="0">
              <a:highlight>
                <a:srgbClr val="00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2292"/>
          </a:xfrm>
        </p:spPr>
        <p:txBody>
          <a:bodyPr>
            <a:normAutofit fontScale="90000"/>
          </a:bodyPr>
          <a:lstStyle/>
          <a:p>
            <a:r>
              <a:rPr dirty="0"/>
              <a:t>5. Architecture for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0848"/>
            <a:ext cx="8229600" cy="4935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1. </a:t>
            </a:r>
            <a:r>
              <a:rPr dirty="0">
                <a:highlight>
                  <a:srgbClr val="FFFF00"/>
                </a:highlight>
              </a:rPr>
              <a:t>User</a:t>
            </a:r>
            <a:r>
              <a:rPr dirty="0"/>
              <a:t> → </a:t>
            </a:r>
            <a:r>
              <a:rPr lang="en-US" dirty="0"/>
              <a:t>2. </a:t>
            </a:r>
            <a:r>
              <a:rPr dirty="0">
                <a:highlight>
                  <a:srgbClr val="00FF00"/>
                </a:highlight>
              </a:rPr>
              <a:t>Python App</a:t>
            </a:r>
            <a:r>
              <a:rPr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>
                <a:highlight>
                  <a:srgbClr val="00FF00"/>
                </a:highlight>
              </a:rPr>
              <a:t>Python App</a:t>
            </a:r>
            <a:r>
              <a:rPr lang="en-US" dirty="0"/>
              <a:t> </a:t>
            </a:r>
            <a:r>
              <a:rPr dirty="0"/>
              <a:t>→ </a:t>
            </a:r>
            <a:r>
              <a:rPr lang="en-US" dirty="0"/>
              <a:t>3. </a:t>
            </a:r>
            <a:r>
              <a:rPr dirty="0">
                <a:highlight>
                  <a:srgbClr val="00FFFF"/>
                </a:highlight>
              </a:rPr>
              <a:t>LLM (OpenAI API) </a:t>
            </a:r>
            <a:endParaRPr lang="en-US" dirty="0"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US" dirty="0">
                <a:highlight>
                  <a:srgbClr val="00FFFF"/>
                </a:highlight>
              </a:rPr>
              <a:t>3. LLM (OpenAI API)  </a:t>
            </a:r>
            <a:r>
              <a:rPr dirty="0"/>
              <a:t>→ </a:t>
            </a:r>
            <a:r>
              <a:rPr lang="en-US" dirty="0"/>
              <a:t>4. </a:t>
            </a:r>
            <a:r>
              <a:rPr dirty="0">
                <a:highlight>
                  <a:srgbClr val="C0C0C0"/>
                </a:highlight>
              </a:rPr>
              <a:t>SQL Execution </a:t>
            </a:r>
            <a:endParaRPr lang="en-US" dirty="0">
              <a:highlight>
                <a:srgbClr val="C0C0C0"/>
              </a:highlight>
            </a:endParaRPr>
          </a:p>
          <a:p>
            <a:pPr marL="0" indent="0">
              <a:buNone/>
            </a:pPr>
            <a:r>
              <a:rPr lang="en-US" dirty="0">
                <a:highlight>
                  <a:srgbClr val="C0C0C0"/>
                </a:highlight>
              </a:rPr>
              <a:t>4. SQL Execution </a:t>
            </a:r>
            <a:r>
              <a:rPr dirty="0"/>
              <a:t>→ </a:t>
            </a:r>
            <a:r>
              <a:rPr lang="en-US" dirty="0"/>
              <a:t>5. </a:t>
            </a:r>
            <a:r>
              <a:rPr dirty="0">
                <a:highlight>
                  <a:srgbClr val="FF00FF"/>
                </a:highlight>
              </a:rPr>
              <a:t>Result</a:t>
            </a:r>
          </a:p>
          <a:p>
            <a:r>
              <a:rPr dirty="0"/>
              <a:t>LLM generates SQL or analyzes text</a:t>
            </a:r>
            <a:endParaRPr lang="en-US" dirty="0"/>
          </a:p>
          <a:p>
            <a:pPr lvl="1"/>
            <a:r>
              <a:rPr lang="en-US" dirty="0"/>
              <a:t>English </a:t>
            </a:r>
            <a:r>
              <a:rPr lang="en-US" dirty="0">
                <a:sym typeface="Wingdings" pitchFamily="2" charset="2"/>
              </a:rPr>
              <a:t> SQL  Result</a:t>
            </a:r>
          </a:p>
          <a:p>
            <a:pPr lvl="1"/>
            <a:r>
              <a:rPr lang="en-US" dirty="0">
                <a:sym typeface="Wingdings" pitchFamily="2" charset="2"/>
              </a:rPr>
              <a:t>English  Result</a:t>
            </a:r>
            <a:endParaRPr dirty="0"/>
          </a:p>
          <a:p>
            <a:r>
              <a:rPr dirty="0"/>
              <a:t>Python connects to MySQL to execute queries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6. Example 1: </a:t>
            </a:r>
            <a:br>
              <a:rPr lang="en-US" dirty="0"/>
            </a:br>
            <a:r>
              <a:rPr dirty="0"/>
              <a:t>NL </a:t>
            </a:r>
            <a:r>
              <a:rPr lang="en-US" dirty="0"/>
              <a:t>(natural language) </a:t>
            </a:r>
            <a:r>
              <a:rPr dirty="0"/>
              <a:t>to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User: </a:t>
            </a:r>
            <a:r>
              <a:rPr dirty="0">
                <a:highlight>
                  <a:srgbClr val="FFFF00"/>
                </a:highlight>
              </a:rPr>
              <a:t>'Show average salary by department</a:t>
            </a:r>
            <a:r>
              <a:rPr dirty="0"/>
              <a:t>'</a:t>
            </a:r>
          </a:p>
          <a:p>
            <a:r>
              <a:rPr dirty="0"/>
              <a:t>LLM: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</a:t>
            </a:r>
            <a:r>
              <a:rPr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dept_id</a:t>
            </a:r>
            <a:r>
              <a:rPr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endParaRPr lang="en-US" dirty="0">
              <a:highlight>
                <a:srgbClr val="00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AVG(salary)</a:t>
            </a:r>
            <a:r>
              <a:rPr lang="en-US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US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avg_salary</a:t>
            </a:r>
            <a:r>
              <a:rPr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dirty="0">
              <a:highlight>
                <a:srgbClr val="00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FROM employees </a:t>
            </a:r>
            <a:endParaRPr lang="en-US" dirty="0">
              <a:highlight>
                <a:srgbClr val="00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GROUP BY </a:t>
            </a:r>
            <a:r>
              <a:rPr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dept_id</a:t>
            </a:r>
            <a:r>
              <a:rPr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8A8BC-7C7E-5524-A054-BD444A5CE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6DA39-2A93-6A44-6D35-0A5236D07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6. Example </a:t>
            </a:r>
            <a:r>
              <a:rPr lang="en-US" dirty="0"/>
              <a:t>2</a:t>
            </a:r>
            <a:r>
              <a:rPr dirty="0"/>
              <a:t>: </a:t>
            </a:r>
            <a:br>
              <a:rPr lang="en-US" dirty="0"/>
            </a:br>
            <a:r>
              <a:rPr dirty="0"/>
              <a:t>NL </a:t>
            </a:r>
            <a:r>
              <a:rPr lang="en-US" dirty="0"/>
              <a:t>(natural language) </a:t>
            </a:r>
            <a:r>
              <a:rPr dirty="0"/>
              <a:t>to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BE8E0-EB67-9025-8BAC-30EDEE3B1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16930" cy="4525963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dirty="0"/>
              <a:t>User: </a:t>
            </a:r>
            <a:r>
              <a:rPr dirty="0">
                <a:highlight>
                  <a:srgbClr val="FFFF00"/>
                </a:highlight>
              </a:rPr>
              <a:t>'Show average salary by department</a:t>
            </a:r>
            <a:r>
              <a:rPr lang="en-US" dirty="0">
                <a:highlight>
                  <a:srgbClr val="FFFF00"/>
                </a:highlight>
              </a:rPr>
              <a:t> name</a:t>
            </a:r>
            <a:r>
              <a:rPr dirty="0"/>
              <a:t>'</a:t>
            </a:r>
          </a:p>
          <a:p>
            <a:r>
              <a:rPr dirty="0"/>
              <a:t>LLM: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</a:t>
            </a:r>
            <a:r>
              <a:rPr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d.</a:t>
            </a:r>
            <a:r>
              <a:rPr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dept_</a:t>
            </a:r>
            <a:r>
              <a:rPr lang="en-US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endParaRPr lang="en-US" dirty="0">
              <a:highlight>
                <a:srgbClr val="00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AVG(</a:t>
            </a:r>
            <a:r>
              <a:rPr lang="en-US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e.</a:t>
            </a:r>
            <a:r>
              <a:rPr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salary</a:t>
            </a:r>
            <a:r>
              <a:rPr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US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avg_salary</a:t>
            </a:r>
            <a:r>
              <a:rPr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dirty="0">
              <a:highlight>
                <a:srgbClr val="00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FROM employees</a:t>
            </a:r>
            <a:r>
              <a:rPr lang="en-US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e,</a:t>
            </a:r>
          </a:p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          departments d</a:t>
            </a:r>
          </a:p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        WHERE </a:t>
            </a:r>
            <a:r>
              <a:rPr lang="en-US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e.dept_id</a:t>
            </a:r>
            <a:r>
              <a:rPr lang="en-US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d.dept_id</a:t>
            </a:r>
            <a:r>
              <a:rPr lang="en-US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dirty="0">
              <a:highlight>
                <a:srgbClr val="00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GROUP BY </a:t>
            </a:r>
            <a:r>
              <a:rPr lang="en-US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d.</a:t>
            </a:r>
            <a:r>
              <a:rPr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dept_</a:t>
            </a:r>
            <a:r>
              <a:rPr lang="en-US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07111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1223"/>
            <a:ext cx="8229600" cy="358541"/>
          </a:xfrm>
        </p:spPr>
        <p:txBody>
          <a:bodyPr>
            <a:noAutofit/>
          </a:bodyPr>
          <a:lstStyle/>
          <a:p>
            <a:r>
              <a:rPr sz="2000" dirty="0"/>
              <a:t>Python Code: Prompting LLM for</a:t>
            </a:r>
            <a:r>
              <a:rPr lang="en-US" sz="2000" dirty="0"/>
              <a:t> </a:t>
            </a:r>
            <a:r>
              <a:rPr sz="2000" dirty="0"/>
              <a:t>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9764"/>
            <a:ext cx="8229600" cy="617701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openai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 import OpenAI</a:t>
            </a:r>
          </a:p>
          <a:p>
            <a:pPr marL="0" indent="0">
              <a:buNone/>
            </a:pPr>
            <a:endParaRPr lang="en-US" sz="5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5600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create_client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openai_api_key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    return OpenAI(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api_key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openai_api_key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#end-def</a:t>
            </a:r>
          </a:p>
          <a:p>
            <a:pPr marL="0" indent="0">
              <a:buNone/>
            </a:pPr>
            <a:endParaRPr lang="en-US" sz="5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5600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generate_sql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(client, 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user_question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    prompt = f"""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    You are a helpful assistant converting user questions to SQL.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    Schema: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        departments(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dept_id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dept_name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        employees(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emp_id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emp_name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hire_date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, salary, 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dept_id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5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    User Question: {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user_question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    SQL: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    """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    response = 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client.chat.completions.create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        model="gpt-4o",  # or another chat model like "gpt-3.5-turbo"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        messages=[ { "role": "user", "content": prompt } ]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    )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response.choices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[0].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message.content.strip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#end-def</a:t>
            </a:r>
          </a:p>
          <a:p>
            <a:pPr marL="0" indent="0">
              <a:buNone/>
            </a:pPr>
            <a:endParaRPr lang="en-US" sz="5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560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main driver</a:t>
            </a:r>
          </a:p>
          <a:p>
            <a:pPr marL="0" indent="0">
              <a:buNone/>
            </a:pP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openai_api_key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="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"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client = 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create_client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openai_api_key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sz="5600" dirty="0" err="1">
                <a:latin typeface="Consolas" panose="020B0609020204030204" pitchFamily="49" charset="0"/>
                <a:cs typeface="Consolas" panose="020B0609020204030204" pitchFamily="49" charset="0"/>
              </a:rPr>
              <a:t>generate_sql</a:t>
            </a:r>
            <a:r>
              <a:rPr lang="en-US" sz="5600" dirty="0">
                <a:latin typeface="Consolas" panose="020B0609020204030204" pitchFamily="49" charset="0"/>
                <a:cs typeface="Consolas" panose="020B0609020204030204" pitchFamily="49" charset="0"/>
              </a:rPr>
              <a:t>(client, "Show total salary by department"))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CD7D6-3090-7BD4-C51F-229CCBB96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34346-34B5-8EBC-6145-18E980CE4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1223"/>
            <a:ext cx="8229600" cy="1176689"/>
          </a:xfrm>
        </p:spPr>
        <p:txBody>
          <a:bodyPr>
            <a:noAutofit/>
          </a:bodyPr>
          <a:lstStyle/>
          <a:p>
            <a:r>
              <a:rPr sz="2800" dirty="0"/>
              <a:t>Python Code: Prompting LLM for</a:t>
            </a:r>
            <a:r>
              <a:rPr lang="en-US" sz="2800" dirty="0"/>
              <a:t> </a:t>
            </a:r>
            <a:r>
              <a:rPr sz="2800" dirty="0"/>
              <a:t>SQL</a:t>
            </a:r>
            <a:r>
              <a:rPr lang="en-US" sz="2800" dirty="0"/>
              <a:t>: </a:t>
            </a:r>
            <a:br>
              <a:rPr lang="en-US" sz="2800" dirty="0"/>
            </a:br>
            <a:r>
              <a:rPr lang="en-US" sz="2800" dirty="0">
                <a:highlight>
                  <a:srgbClr val="FFFF00"/>
                </a:highlight>
              </a:rPr>
              <a:t>OpenAI</a:t>
            </a:r>
            <a:r>
              <a:rPr lang="en-US" sz="2800" dirty="0"/>
              <a:t> </a:t>
            </a:r>
            <a:r>
              <a:rPr lang="en-US" sz="2800" dirty="0">
                <a:highlight>
                  <a:srgbClr val="FFFF00"/>
                </a:highlight>
              </a:rPr>
              <a:t>Generated SQL</a:t>
            </a:r>
            <a:endParaRPr sz="2800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29D78-D6D6-95C7-FFDA-3C71858B0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11166"/>
            <a:ext cx="8229600" cy="4957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d.dept_name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SUM(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e.salary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 AS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total_salary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departments d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JOIN 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employees e ON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d.dept_id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e.dept_id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GROUP BY 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d.dept_name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56036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86271"/>
          </a:xfrm>
        </p:spPr>
        <p:txBody>
          <a:bodyPr>
            <a:noAutofit/>
          </a:bodyPr>
          <a:lstStyle/>
          <a:p>
            <a:r>
              <a:rPr sz="3200" dirty="0"/>
              <a:t>Python Code: </a:t>
            </a:r>
            <a:br>
              <a:rPr lang="en-US" sz="3200" dirty="0"/>
            </a:br>
            <a:r>
              <a:rPr sz="3200" dirty="0"/>
              <a:t>Execute SQL on MySQL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2769"/>
            <a:ext cx="8229600" cy="45233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1. import required libraries</a:t>
            </a:r>
          </a:p>
          <a:p>
            <a:pPr marL="0" indent="0">
              <a:buNone/>
            </a:pPr>
            <a:r>
              <a:rPr dirty="0"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dirty="0" err="1">
                <a:latin typeface="Consolas" panose="020B0609020204030204" pitchFamily="49" charset="0"/>
                <a:cs typeface="Consolas" panose="020B0609020204030204" pitchFamily="49" charset="0"/>
              </a:rPr>
              <a:t>mysql.connector</a:t>
            </a:r>
            <a:br>
              <a:rPr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2. create a database connection</a:t>
            </a:r>
            <a:br>
              <a:rPr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  <a:cs typeface="Consolas" panose="020B0609020204030204" pitchFamily="49" charset="0"/>
              </a:rPr>
              <a:t>conn = </a:t>
            </a:r>
            <a:r>
              <a:rPr dirty="0" err="1">
                <a:latin typeface="Consolas" panose="020B0609020204030204" pitchFamily="49" charset="0"/>
                <a:cs typeface="Consolas" panose="020B0609020204030204" pitchFamily="49" charset="0"/>
              </a:rPr>
              <a:t>mysql.connector.connect</a:t>
            </a:r>
            <a:r>
              <a:rPr dirty="0">
                <a:latin typeface="Consolas" panose="020B0609020204030204" pitchFamily="49" charset="0"/>
                <a:cs typeface="Consolas" panose="020B0609020204030204" pitchFamily="49" charset="0"/>
              </a:rPr>
              <a:t>(...)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3. execute SQL</a:t>
            </a:r>
            <a:br>
              <a:rPr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  <a:cs typeface="Consolas" panose="020B0609020204030204" pitchFamily="49" charset="0"/>
              </a:rPr>
              <a:t>cursor = </a:t>
            </a:r>
            <a:r>
              <a:rPr dirty="0" err="1">
                <a:latin typeface="Consolas" panose="020B0609020204030204" pitchFamily="49" charset="0"/>
                <a:cs typeface="Consolas" panose="020B0609020204030204" pitchFamily="49" charset="0"/>
              </a:rPr>
              <a:t>conn.cursor</a:t>
            </a:r>
            <a:r>
              <a:rPr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dirty="0" err="1">
                <a:latin typeface="Consolas" panose="020B0609020204030204" pitchFamily="49" charset="0"/>
                <a:cs typeface="Consolas" panose="020B0609020204030204" pitchFamily="49" charset="0"/>
              </a:rPr>
              <a:t>cursor.execute</a:t>
            </a:r>
            <a:r>
              <a:rPr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dirty="0" err="1">
                <a:latin typeface="Consolas" panose="020B0609020204030204" pitchFamily="49" charset="0"/>
                <a:cs typeface="Consolas" panose="020B0609020204030204" pitchFamily="49" charset="0"/>
              </a:rPr>
              <a:t>sql</a:t>
            </a:r>
            <a:r>
              <a:rPr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  <a:cs typeface="Consolas" panose="020B0609020204030204" pitchFamily="49" charset="0"/>
              </a:rPr>
              <a:t>results = </a:t>
            </a:r>
            <a:r>
              <a:rPr dirty="0" err="1">
                <a:latin typeface="Consolas" panose="020B0609020204030204" pitchFamily="49" charset="0"/>
                <a:cs typeface="Consolas" panose="020B0609020204030204" pitchFamily="49" charset="0"/>
              </a:rPr>
              <a:t>cursor.fetchall</a:t>
            </a:r>
            <a:r>
              <a:rPr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  <a:cs typeface="Consolas" panose="020B0609020204030204" pitchFamily="49" charset="0"/>
              </a:rPr>
              <a:t>print(results)</a:t>
            </a:r>
            <a:br>
              <a:rPr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7. Example 2: Classify Support Tickets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Input: Message text from `tickets` table</a:t>
            </a:r>
          </a:p>
          <a:p>
            <a:r>
              <a:rPr dirty="0"/>
              <a:t>LLM classifies as </a:t>
            </a:r>
            <a:r>
              <a:rPr dirty="0">
                <a:highlight>
                  <a:srgbClr val="00FF00"/>
                </a:highlight>
              </a:rPr>
              <a:t>billing</a:t>
            </a:r>
            <a:r>
              <a:rPr dirty="0"/>
              <a:t>, </a:t>
            </a:r>
            <a:r>
              <a:rPr dirty="0">
                <a:highlight>
                  <a:srgbClr val="00FF00"/>
                </a:highlight>
              </a:rPr>
              <a:t>technical</a:t>
            </a:r>
            <a:r>
              <a:rPr dirty="0"/>
              <a:t>, or </a:t>
            </a:r>
            <a:r>
              <a:rPr dirty="0">
                <a:highlight>
                  <a:srgbClr val="00FF00"/>
                </a:highlight>
              </a:rPr>
              <a:t>general</a:t>
            </a:r>
          </a:p>
          <a:p>
            <a:r>
              <a:rPr dirty="0"/>
              <a:t>Update the table with LLM's prediction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Python: Classify Ticket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5794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prompt = "Classify this: 'I can't login and need help resetting password’”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b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response = </a:t>
            </a:r>
            <a:r>
              <a:rPr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openai.ChatCompletion.create</a:t>
            </a: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    model="gpt-4",</a:t>
            </a:r>
            <a:b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    messages=[{"role": "user", 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</a:t>
            </a: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"content": prompt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}]</a:t>
            </a:r>
            <a:b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sz="2000" dirty="0">
                <a:latin typeface="Consolas" panose="020B0609020204030204" pitchFamily="49" charset="0"/>
                <a:cs typeface="Consolas" panose="020B0609020204030204" pitchFamily="49" charset="0"/>
              </a:rPr>
              <a:t>label = response['choices'][0]['message']['content']</a:t>
            </a:r>
            <a:b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8. Example 3: </a:t>
            </a:r>
            <a:br>
              <a:rPr lang="en-US" dirty="0"/>
            </a:br>
            <a:r>
              <a:rPr dirty="0"/>
              <a:t>Question Answering Over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1. </a:t>
            </a:r>
            <a:r>
              <a:rPr dirty="0">
                <a:highlight>
                  <a:srgbClr val="FFFF00"/>
                </a:highlight>
              </a:rPr>
              <a:t>Ask:</a:t>
            </a:r>
            <a:r>
              <a:rPr dirty="0"/>
              <a:t> 'Which department has the highest avg salary?’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2. </a:t>
            </a:r>
            <a:r>
              <a:rPr dirty="0">
                <a:highlight>
                  <a:srgbClr val="FFFF00"/>
                </a:highlight>
              </a:rPr>
              <a:t>LLM generates SQL </a:t>
            </a:r>
            <a:r>
              <a:rPr dirty="0"/>
              <a:t>and explanation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3. </a:t>
            </a:r>
            <a:r>
              <a:rPr dirty="0">
                <a:highlight>
                  <a:srgbClr val="FFFF00"/>
                </a:highlight>
              </a:rPr>
              <a:t>Python executes </a:t>
            </a:r>
            <a:r>
              <a:rPr lang="en-US" dirty="0">
                <a:highlight>
                  <a:srgbClr val="FFFF00"/>
                </a:highlight>
              </a:rPr>
              <a:t>generated </a:t>
            </a:r>
            <a:r>
              <a:rPr dirty="0">
                <a:highlight>
                  <a:srgbClr val="FFFF00"/>
                </a:highlight>
              </a:rPr>
              <a:t>SQL </a:t>
            </a:r>
            <a:r>
              <a:rPr dirty="0"/>
              <a:t>and returns result to user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Prompt Engineering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Provide table names and sample rows</a:t>
            </a:r>
          </a:p>
          <a:p>
            <a:r>
              <a:rPr dirty="0"/>
              <a:t>Specify the task clearly: 'Write SQL to ...'</a:t>
            </a:r>
          </a:p>
          <a:p>
            <a:r>
              <a:rPr dirty="0"/>
              <a:t>Use system prompts for format control</a:t>
            </a:r>
          </a:p>
          <a:p>
            <a:r>
              <a:rPr dirty="0"/>
              <a:t>Limit query scope for security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Validate SQL syntax before execution</a:t>
            </a:r>
          </a:p>
          <a:p>
            <a:r>
              <a:rPr dirty="0"/>
              <a:t>Avoid direct user inputs in SQL execution</a:t>
            </a:r>
          </a:p>
          <a:p>
            <a:r>
              <a:rPr dirty="0"/>
              <a:t>Use views for safer query context</a:t>
            </a:r>
          </a:p>
          <a:p>
            <a:r>
              <a:rPr dirty="0"/>
              <a:t>Rate limit LLM API calls to control cost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11. Cost and Privacy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LLM API calls can be expensive at scale</a:t>
            </a:r>
          </a:p>
          <a:p>
            <a:r>
              <a:rPr dirty="0"/>
              <a:t>Cache common queries</a:t>
            </a:r>
          </a:p>
          <a:p>
            <a:r>
              <a:rPr dirty="0"/>
              <a:t>Avoid sending PII to LLMs</a:t>
            </a:r>
          </a:p>
          <a:p>
            <a:r>
              <a:rPr dirty="0"/>
              <a:t>Use anonymized data when possible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PII = Personally Identifiable Information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Deployment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Streamlit App for chat-to-MySQL UI</a:t>
            </a:r>
          </a:p>
          <a:p>
            <a:r>
              <a:t>Command-line assistant</a:t>
            </a:r>
          </a:p>
          <a:p>
            <a:r>
              <a:t>Web dashboard with analytics</a:t>
            </a:r>
          </a:p>
          <a:p>
            <a:r>
              <a:t>Integration with BI tools (Tableau, Power BI)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Monitoring &amp;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Log each prompt and generated SQL</a:t>
            </a:r>
          </a:p>
          <a:p>
            <a:r>
              <a:t>Track execution time and failures</a:t>
            </a:r>
          </a:p>
          <a:p>
            <a:r>
              <a:t>Alert on SQL anomalies</a:t>
            </a:r>
          </a:p>
          <a:p>
            <a:r>
              <a:t>Store LLM responses for review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Mini Project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Build a tool that:</a:t>
            </a:r>
          </a:p>
          <a:p>
            <a:r>
              <a:t>- Accepts NL query</a:t>
            </a:r>
          </a:p>
          <a:p>
            <a:r>
              <a:t>- Converts to SQL using LLM</a:t>
            </a:r>
          </a:p>
          <a:p>
            <a:r>
              <a:t>- Runs query on MySQL</a:t>
            </a:r>
          </a:p>
          <a:p>
            <a:r>
              <a:t>- Returns result to user</a:t>
            </a:r>
          </a:p>
          <a:p>
            <a:r>
              <a:t>- Optional: Streamlit UI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MySQL + LLM enables intelligent querying</a:t>
            </a:r>
          </a:p>
          <a:p>
            <a:r>
              <a:t>LLMs can classify, summarize, and translate to SQL</a:t>
            </a:r>
          </a:p>
          <a:p>
            <a:r>
              <a:t>Security and validation are key</a:t>
            </a:r>
          </a:p>
          <a:p>
            <a:r>
              <a:t>Practical, real-world use in data warehousing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Q&amp;A /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What use cases do you imagine for your warehouse?</a:t>
            </a:r>
          </a:p>
          <a:p>
            <a:r>
              <a:t>What are the risks and limitations of using LLMs?</a:t>
            </a:r>
          </a:p>
          <a:p>
            <a:r>
              <a:t>How can you make LLMs more reliable in SQL tasks?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1809</TotalTime>
  <Words>1179</Words>
  <Application>Microsoft Macintosh PowerPoint</Application>
  <PresentationFormat>On-screen Show (4:3)</PresentationFormat>
  <Paragraphs>184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Consolas</vt:lpstr>
      <vt:lpstr>Wingdings</vt:lpstr>
      <vt:lpstr>Office Theme</vt:lpstr>
      <vt:lpstr>Integrating  MySQL  with  Large Language Models  (Examples using OpenAI)</vt:lpstr>
      <vt:lpstr>Table of Contents</vt:lpstr>
      <vt:lpstr>1. What is MySQL?</vt:lpstr>
      <vt:lpstr>2. What is an LLM?</vt:lpstr>
      <vt:lpstr>2. What is an LLM?</vt:lpstr>
      <vt:lpstr>2. Example of an LLM? ChatGPT</vt:lpstr>
      <vt:lpstr>3. Why Integrate LLMs with SQL?</vt:lpstr>
      <vt:lpstr>Architecture of SQL &amp; LLM Integration</vt:lpstr>
      <vt:lpstr>Architecture  Natural Language  SQL </vt:lpstr>
      <vt:lpstr>4. Sample Schema (Employees DB) Metadata</vt:lpstr>
      <vt:lpstr>5. Architecture for Integration</vt:lpstr>
      <vt:lpstr>6. Example 1:  NL (natural language) to SQL</vt:lpstr>
      <vt:lpstr>6. Example 2:  NL (natural language) to SQL</vt:lpstr>
      <vt:lpstr>Python Code: Prompting LLM for SQL</vt:lpstr>
      <vt:lpstr>Python Code: Prompting LLM for SQL:  OpenAI Generated SQL</vt:lpstr>
      <vt:lpstr>Python Code:  Execute SQL on MySQL</vt:lpstr>
      <vt:lpstr>7. Example 2: Classify Support Tickets</vt:lpstr>
      <vt:lpstr>Python: Classify Ticket Message</vt:lpstr>
      <vt:lpstr>8. Example 3:  Question Answering Over SQL</vt:lpstr>
      <vt:lpstr>9. Prompt Engineering Tips</vt:lpstr>
      <vt:lpstr>10. Best Practices</vt:lpstr>
      <vt:lpstr>11. Cost and Privacy Considerations</vt:lpstr>
      <vt:lpstr>12. Deployment Options</vt:lpstr>
      <vt:lpstr>13. Monitoring &amp; Logging</vt:lpstr>
      <vt:lpstr>14. Mini Project Prompt</vt:lpstr>
      <vt:lpstr>15. Summary</vt:lpstr>
      <vt:lpstr>16. Q&amp;A / 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Mahmoud Parsian</cp:lastModifiedBy>
  <cp:revision>29</cp:revision>
  <dcterms:created xsi:type="dcterms:W3CDTF">2013-01-27T09:14:16Z</dcterms:created>
  <dcterms:modified xsi:type="dcterms:W3CDTF">2025-09-10T01:50:56Z</dcterms:modified>
  <cp:category/>
</cp:coreProperties>
</file>