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8081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From OLTP to Analytics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234439"/>
            <a:ext cx="11064240" cy="2413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• ETL 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• SCD Type 2 </a:t>
            </a:r>
          </a:p>
          <a:p>
            <a:pPr marL="0" indent="0">
              <a:buNone/>
            </a:pPr>
            <a:r>
              <a:rPr lang="en-US" sz="32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• </a:t>
            </a:r>
            <a:r>
              <a:rPr lang="en-US" sz="3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863591"/>
            <a:ext cx="11064240" cy="7285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deck +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lab-ready bundle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10607040" cy="4303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modeling overview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vs dimension (+ grain)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structure &amp; benefits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→ DW mapping &amp; ETL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 2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vs Snowflake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query patterns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flow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12466"/>
            <a:ext cx="10972800" cy="4320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vs OLAP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5840" y="1014884"/>
            <a:ext cx="10607040" cy="5203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OLTP: </a:t>
            </a:r>
          </a:p>
          <a:p>
            <a:pPr marL="701040" lvl="1" indent="-243840">
              <a:spcAft>
                <a:spcPts val="800"/>
              </a:spcAft>
              <a:buSzPct val="100000"/>
              <a:buChar char="•"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normalized, </a:t>
            </a:r>
          </a:p>
          <a:p>
            <a:pPr marL="701040" lvl="1" indent="-243840">
              <a:spcAft>
                <a:spcPts val="800"/>
              </a:spcAft>
              <a:buSzPct val="100000"/>
              <a:buChar char="•"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many small writes, </a:t>
            </a:r>
          </a:p>
          <a:p>
            <a:pPr marL="701040" lvl="1" indent="-243840">
              <a:spcAft>
                <a:spcPts val="800"/>
              </a:spcAft>
              <a:buSzPct val="100000"/>
              <a:buChar char="•"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low-latency transactions</a:t>
            </a:r>
            <a:endParaRPr lang="en-US" sz="36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OLAP: scans + joins + aggregations across large history</a:t>
            </a:r>
            <a:endParaRPr lang="en-US" sz="36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</a:t>
            </a:r>
          </a:p>
          <a:p>
            <a:pPr marL="701040" lvl="1" indent="-243840">
              <a:spcAft>
                <a:spcPts val="800"/>
              </a:spcAft>
              <a:buSzPct val="100000"/>
              <a:buChar char="•"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join complexity</a:t>
            </a:r>
          </a:p>
          <a:p>
            <a:pPr marL="701040" lvl="1" indent="-243840">
              <a:spcAft>
                <a:spcPts val="800"/>
              </a:spcAft>
              <a:buSzPct val="100000"/>
              <a:buChar char="•"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BI queries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vs Dimension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5840" y="1554479"/>
            <a:ext cx="10607040" cy="45951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Fact: measurable events (sales, shipments, clicks)</a:t>
            </a:r>
            <a:endParaRPr lang="en-US" sz="40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Dimensions: descriptive context (who/what/when/where)</a:t>
            </a:r>
            <a:endParaRPr lang="en-US" sz="40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tables are large</a:t>
            </a:r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are small-ish and descriptive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(Define it first)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1060704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= what a single fact row represents</a:t>
            </a:r>
            <a:endParaRPr lang="en-US" sz="44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grain: one row per order_item</a:t>
            </a:r>
            <a:endParaRPr lang="en-US" sz="44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determines valid measures and joins</a:t>
            </a:r>
            <a:endParaRPr lang="en-US" sz="44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grain later usually requires re-ETL</a:t>
            </a:r>
            <a:endParaRPr lang="en-US" sz="4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Visual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846320" y="2194560"/>
            <a:ext cx="2743200" cy="914400"/>
          </a:xfrm>
          <a:prstGeom prst="round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46320" y="22402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(measures)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46320" y="1097280"/>
            <a:ext cx="2743200" cy="731520"/>
          </a:xfrm>
          <a:prstGeom prst="round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0" y="1188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80160" y="2194560"/>
            <a:ext cx="2743200" cy="731520"/>
          </a:xfrm>
          <a:prstGeom prst="round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286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12480" y="2194560"/>
            <a:ext cx="2743200" cy="731520"/>
          </a:xfrm>
          <a:prstGeom prst="round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2286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6320" y="3474720"/>
            <a:ext cx="2743200" cy="731520"/>
          </a:xfrm>
          <a:prstGeom prst="round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566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DIM_STORE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2194560"/>
            <a:ext cx="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2651760"/>
            <a:ext cx="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0" y="2651760"/>
            <a:ext cx="82296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3108960"/>
            <a:ext cx="0" cy="36576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12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keys → dimensions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provide filter/group-by context</a:t>
            </a:r>
            <a:endParaRPr lang="en-US" sz="14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AE652DB4-5284-ABD3-3870-A82FBB7FDB03}"/>
              </a:ext>
            </a:extLst>
          </p:cNvPr>
          <p:cNvSpPr/>
          <p:nvPr/>
        </p:nvSpPr>
        <p:spPr>
          <a:xfrm>
            <a:off x="6370320" y="1828800"/>
            <a:ext cx="0" cy="36576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</a:ln>
        </p:spPr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08CC5437-F212-7085-0442-F275DC437026}"/>
              </a:ext>
            </a:extLst>
          </p:cNvPr>
          <p:cNvSpPr/>
          <p:nvPr/>
        </p:nvSpPr>
        <p:spPr>
          <a:xfrm>
            <a:off x="4023360" y="2622285"/>
            <a:ext cx="82296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399"/>
            <a:ext cx="10972800" cy="894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Source </a:t>
            </a: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(OLTP)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657977"/>
            <a:ext cx="10607040" cy="3094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customers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(customer_id, first_name, last_name, email, country)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products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(product_id, product_name, category, brand, price)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stores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(store_id, store_name, region)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orders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(order_id, customer_id, store_id, order_date)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order_items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(order_item_id, order_id, product_id, quantity, unit_price)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to the Star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10607040" cy="3881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32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calendar fields used for time slicing</a:t>
            </a:r>
            <a:endParaRPr lang="en-US" sz="32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32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</a:t>
            </a: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category, brand, product_name</a:t>
            </a:r>
            <a:endParaRPr lang="en-US" sz="32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32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dim_store</a:t>
            </a: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region, store_name</a:t>
            </a:r>
            <a:endParaRPr lang="en-US" sz="32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32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</a:t>
            </a: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SCD2 (tracks country changes, etc.)</a:t>
            </a:r>
            <a:endParaRPr lang="en-US" sz="32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32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</a:t>
            </a: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measures at order-item grain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Order (Recommended)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1060704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dim_date (generate calendar)</a:t>
            </a:r>
            <a:endParaRPr lang="en-US" sz="36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Type 1 dims (product, store)</a:t>
            </a:r>
            <a:endParaRPr lang="en-US" sz="36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Type 2 dims (customer history)</a:t>
            </a:r>
            <a:endParaRPr lang="en-US" sz="36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fact table (lookup surrogate keys)</a:t>
            </a:r>
            <a:endParaRPr lang="en-US" sz="36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Validate: counts + FK coverage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972800" cy="854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Keys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1060704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Warehouse-generated keys </a:t>
            </a:r>
          </a:p>
          <a:p>
            <a:pPr lvl="1">
              <a:spcAft>
                <a:spcPts val="800"/>
              </a:spcAft>
              <a:buSzPct val="100000"/>
            </a:pP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(customer_key, product_key, ...)</a:t>
            </a:r>
            <a:endParaRPr lang="en-US" sz="4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history (SCD2) while keeping stable joins</a:t>
            </a:r>
            <a:endParaRPr lang="en-US" sz="40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natural key changes breaking historical reporting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972800" cy="7536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 2 (Concept)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1060704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attribute history </a:t>
            </a:r>
          </a:p>
          <a:p>
            <a:pPr>
              <a:spcAft>
                <a:spcPts val="800"/>
              </a:spcAft>
              <a:buSzPct val="100000"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(e.g., customer country changes)</a:t>
            </a:r>
            <a:endParaRPr lang="en-US" sz="40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 current row + insert new version</a:t>
            </a:r>
            <a:endParaRPr lang="en-US" sz="40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effective_date, expiry_date, is_current</a:t>
            </a:r>
            <a:endParaRPr lang="en-US" sz="40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can join to correct version by date range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59"/>
            <a:ext cx="10972800" cy="7345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SCD2 Update + Insert Pattern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972800" cy="52120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60704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B0F0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-- expire current</a:t>
            </a:r>
            <a:endParaRPr lang="en-US" sz="2400" dirty="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UPDATE</a:t>
            </a:r>
            <a:r>
              <a:rPr lang="en-US" sz="2400" dirty="0">
                <a:solidFill>
                  <a:srgbClr val="111111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 dim_customer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111111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SET expiry_date = CURDATE() - INTERVAL 1 DAY,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111111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    is_current  = FALSE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111111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WHERE customer_id = 101 AND is_current = TRUE;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B0F0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-- insert new version</a:t>
            </a:r>
            <a:endParaRPr lang="en-US" sz="2400" dirty="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INSERT</a:t>
            </a:r>
            <a:r>
              <a:rPr lang="en-US" sz="2400" dirty="0">
                <a:solidFill>
                  <a:srgbClr val="111111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 INTO dim_customer(customer_id, first_name, last_name, email, country, effective_date, expiry_date, is_current)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111111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VALUES (101, 'John', 'Smith', 'john@example.com', 'Canada', CURDATE(), '9999-12-31', TRUE);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vs Snowflake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1060704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32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</a:t>
            </a: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denormalized dimensions </a:t>
            </a:r>
          </a:p>
          <a:p>
            <a:pPr marL="701040" lvl="1" indent="-243840">
              <a:spcAft>
                <a:spcPts val="800"/>
              </a:spcAft>
              <a:buSzPct val="100000"/>
              <a:buChar char="•"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fewer joins </a:t>
            </a:r>
          </a:p>
          <a:p>
            <a:pPr marL="701040" lvl="1" indent="-243840">
              <a:spcAft>
                <a:spcPts val="800"/>
              </a:spcAft>
              <a:buSzPct val="100000"/>
              <a:buChar char="•"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simpler and often faster</a:t>
            </a:r>
            <a:endParaRPr lang="en-US" sz="32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32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normalized dimensions </a:t>
            </a:r>
          </a:p>
          <a:p>
            <a:pPr marL="701040" lvl="1" indent="-243840">
              <a:spcAft>
                <a:spcPts val="800"/>
              </a:spcAft>
              <a:buSzPct val="100000"/>
              <a:buChar char="•"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more joins </a:t>
            </a:r>
          </a:p>
          <a:p>
            <a:pPr marL="701040" lvl="1" indent="-243840">
              <a:spcAft>
                <a:spcPts val="800"/>
              </a:spcAft>
              <a:buSzPct val="100000"/>
              <a:buChar char="•"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less redundancy</a:t>
            </a:r>
            <a:endParaRPr lang="en-US" sz="32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Star for BI dashboards and self-serve analytics</a:t>
            </a:r>
            <a:endParaRPr lang="en-US" sz="32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Snowflake when dimensions are huge or heavily shared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Query Patterns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10607040" cy="3992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3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Roll-up</a:t>
            </a: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3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</a:t>
            </a: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(day → month → year)</a:t>
            </a:r>
            <a:endParaRPr lang="en-US" sz="36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3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</a:t>
            </a: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3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(filter by region/category and regroup)</a:t>
            </a:r>
            <a:endParaRPr lang="en-US" sz="36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3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</a:t>
            </a: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(products, customers)</a:t>
            </a:r>
            <a:endParaRPr lang="en-US" sz="36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3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Trends </a:t>
            </a: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(MoM/YoY) using window functions</a:t>
            </a:r>
            <a:endParaRPr 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972800" cy="924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Tips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1060704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fact foreign keys</a:t>
            </a:r>
            <a:endParaRPr lang="en-US" sz="40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partitioning by date at scale</a:t>
            </a:r>
            <a:endParaRPr lang="en-US" sz="40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Pre-aggregate frequent dashboard queries</a:t>
            </a:r>
            <a:endParaRPr lang="en-US" sz="40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ETL with counts + null key checks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Flow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1060704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1: Generate OLTP dataset</a:t>
            </a:r>
            <a:endParaRPr lang="en-US" sz="36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2: Define grain + map facts/dims</a:t>
            </a:r>
            <a:endParaRPr lang="en-US" sz="36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3: Create DW schema</a:t>
            </a:r>
            <a:endParaRPr lang="en-US" sz="36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4: Load with ETL</a:t>
            </a:r>
            <a:endParaRPr lang="en-US" sz="36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5: Run OLAP queries</a:t>
            </a:r>
            <a:endParaRPr lang="en-US" sz="36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6: Simulate SCD2 change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972800" cy="1145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1060704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= analytics-friendly structure</a:t>
            </a:r>
            <a:endParaRPr lang="en-US" sz="40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drives correctness</a:t>
            </a:r>
            <a:endParaRPr lang="en-US" sz="40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turns model into reality</a:t>
            </a:r>
            <a:endParaRPr lang="en-US" sz="4000" dirty="0"/>
          </a:p>
          <a:p>
            <a:pPr marL="243840" indent="-243840">
              <a:spcAft>
                <a:spcPts val="800"/>
              </a:spcAft>
              <a:buSzPct val="100000"/>
              <a:buChar char="•"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SCD2 enables trustworthy historical reporting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758</Words>
  <Application>Microsoft Macintosh PowerPoint</Application>
  <PresentationFormat>Widescreen</PresentationFormat>
  <Paragraphs>131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Star Schema Teaching Bundle</dc:creator>
  <cp:lastModifiedBy>Mahmoud Parsian</cp:lastModifiedBy>
  <cp:revision>5</cp:revision>
  <dcterms:created xsi:type="dcterms:W3CDTF">2026-02-12T23:13:11Z</dcterms:created>
  <dcterms:modified xsi:type="dcterms:W3CDTF">2026-02-12T23:37:22Z</dcterms:modified>
</cp:coreProperties>
</file>